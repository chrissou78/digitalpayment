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91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5" name="Image 1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6" name="Image 2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7" name="Image 3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8" name="Image 4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9" name="Image 5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0" name="Image 6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1" name="Image 7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pic>
        <p:nvPicPr>
          <p:cNvPr id="12" name="Image 8" descr="gen-dedup-62beac45e1ff8ace28ef3bf4bc356181.png"/>
          <p:cNvPicPr>
            <a:picLocks noChangeAspect="1"/>
          </p:cNvPicPr>
          <p:nvPr/>
        </p:nvPicPr>
        <p:blipFill>
          <a:blip r:embed="rId5">
            <a:alphaModFix amt="15000"/>
          </a:blip>
          <a:srcRect t="-2078" b="-2078"/>
          <a:stretch/>
        </p:blipFill>
        <p:spPr>
          <a:xfrm>
            <a:off x="11277295" y="3429000"/>
            <a:ext cx="9144" cy="4762195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3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PAYDUKA — INVESTOR PRESENTATION</a:t>
            </a:r>
            <a:endParaRPr lang="en-US" sz="1000" dirty="0"/>
          </a:p>
        </p:txBody>
      </p:sp>
      <p:sp>
        <p:nvSpPr>
          <p:cNvPr id="15" name="Text 4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PROSPECTUS DRAFT · V.01 · 2026</a:t>
            </a:r>
            <a:endParaRPr lang="en-US" sz="1000" dirty="0"/>
          </a:p>
        </p:txBody>
      </p:sp>
      <p:sp>
        <p:nvSpPr>
          <p:cNvPr id="16" name="Text 5"/>
          <p:cNvSpPr txBox="1"/>
          <p:nvPr/>
        </p:nvSpPr>
        <p:spPr>
          <a:xfrm>
            <a:off x="914400" y="4190695"/>
            <a:ext cx="10049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AFRICA'S INSTANT PAYMENT PLATFORM</a:t>
            </a:r>
            <a:endParaRPr lang="en-US" sz="900" dirty="0"/>
          </a:p>
        </p:txBody>
      </p:sp>
      <p:sp>
        <p:nvSpPr>
          <p:cNvPr id="17" name="Text 6"/>
          <p:cNvSpPr txBox="1"/>
          <p:nvPr/>
        </p:nvSpPr>
        <p:spPr>
          <a:xfrm>
            <a:off x="914400" y="4667098"/>
            <a:ext cx="10049256" cy="282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kern="0" spc="-234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The </a:t>
            </a:r>
            <a:r>
              <a:rPr lang="en-US" sz="7800" i="1" kern="0" spc="-234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PIX of Africa</a:t>
            </a:r>
            <a:r>
              <a:rPr lang="en-US" sz="7800" kern="0" spc="-234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.</a:t>
            </a:r>
            <a:endParaRPr lang="en-US" sz="7800" dirty="0"/>
          </a:p>
          <a:p>
            <a:pPr marL="0" indent="0" algn="l">
              <a:buNone/>
            </a:pPr>
            <a:r>
              <a:rPr lang="en-US" sz="7800" kern="0" spc="-234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Built on Bank-to-Bank Rails. </a:t>
            </a:r>
            <a:endParaRPr lang="en-US" sz="7800" dirty="0"/>
          </a:p>
        </p:txBody>
      </p:sp>
      <p:sp>
        <p:nvSpPr>
          <p:cNvPr id="18" name="Text 7"/>
          <p:cNvSpPr txBox="1"/>
          <p:nvPr/>
        </p:nvSpPr>
        <p:spPr>
          <a:xfrm>
            <a:off x="914400" y="7429500"/>
            <a:ext cx="90297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6DEC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Unlocking instant transactions for 44M+ enterprises and 400M+ unbanked adults. Zero card network fees. Built for instant, sovereign interbank ledger transfers.</a:t>
            </a:r>
            <a:endParaRPr lang="en-US" sz="2100" dirty="0"/>
          </a:p>
        </p:txBody>
      </p:sp>
      <p:sp>
        <p:nvSpPr>
          <p:cNvPr id="19" name="Text 8"/>
          <p:cNvSpPr txBox="1"/>
          <p:nvPr/>
        </p:nvSpPr>
        <p:spPr>
          <a:xfrm>
            <a:off x="11658600" y="3429000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35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VISION</a:t>
            </a:r>
            <a:endParaRPr lang="en-US" sz="900" dirty="0"/>
          </a:p>
        </p:txBody>
      </p:sp>
      <p:sp>
        <p:nvSpPr>
          <p:cNvPr id="20" name="Text 9"/>
          <p:cNvSpPr txBox="1"/>
          <p:nvPr/>
        </p:nvSpPr>
        <p:spPr>
          <a:xfrm>
            <a:off x="11658600" y="3696005"/>
            <a:ext cx="57150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E6DEC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"Every asset will be tokenized... and every payment will become instant, frictionless, and peer-to-peer."</a:t>
            </a:r>
            <a:endParaRPr lang="en-US" sz="2100" dirty="0"/>
          </a:p>
        </p:txBody>
      </p:sp>
      <p:sp>
        <p:nvSpPr>
          <p:cNvPr id="21" name="Text 10"/>
          <p:cNvSpPr txBox="1"/>
          <p:nvPr/>
        </p:nvSpPr>
        <p:spPr>
          <a:xfrm>
            <a:off x="11658600" y="4484218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Financial Consensus · 2026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1658600" y="5524805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35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INVESTMENT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11658600" y="5790895"/>
            <a:ext cx="571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kern="0" spc="-108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Raising R10M—R12M</a:t>
            </a:r>
            <a:endParaRPr lang="en-US" sz="5400" dirty="0"/>
          </a:p>
        </p:txBody>
      </p:sp>
      <p:sp>
        <p:nvSpPr>
          <p:cNvPr id="24" name="Text 13"/>
          <p:cNvSpPr txBox="1"/>
          <p:nvPr/>
        </p:nvSpPr>
        <p:spPr>
          <a:xfrm>
            <a:off x="11658600" y="7239305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9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$555k — $667k USD · Seed Facility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Ltd · South Africa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5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6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7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8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9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0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1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pic>
        <p:nvPicPr>
          <p:cNvPr id="12" name="Image 8" descr="gen-dedup-fb2d8a7615b847747f0993b4567c2ead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9144000" y="4190695"/>
            <a:ext cx="9144" cy="4286707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6F1D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3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· THE PROBLEM</a:t>
            </a:r>
            <a:endParaRPr lang="en-US" sz="1000" dirty="0"/>
          </a:p>
        </p:txBody>
      </p:sp>
      <p:sp>
        <p:nvSpPr>
          <p:cNvPr id="15" name="Text 4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TOLL ON ENTERPRISES · 02</a:t>
            </a:r>
            <a:endParaRPr lang="en-US" sz="1000" dirty="0"/>
          </a:p>
        </p:txBody>
      </p:sp>
      <p:sp>
        <p:nvSpPr>
          <p:cNvPr id="16" name="Text 5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6F1D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TOLL OF INTERMEDIARIES</a:t>
            </a:r>
            <a:endParaRPr lang="en-US" sz="900" dirty="0"/>
          </a:p>
        </p:txBody>
      </p:sp>
      <p:sp>
        <p:nvSpPr>
          <p:cNvPr id="17" name="Text 6"/>
          <p:cNvSpPr txBox="1"/>
          <p:nvPr/>
        </p:nvSpPr>
        <p:spPr>
          <a:xfrm>
            <a:off x="914400" y="1819656"/>
            <a:ext cx="1645920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kern="0" spc="-93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Venture capital invests in companies. But the real asset is the founder. Card networks charge </a:t>
            </a:r>
            <a:r>
              <a:rPr lang="en-US" sz="4600" i="1" kern="0" spc="-93" dirty="0">
                <a:solidFill>
                  <a:srgbClr val="6F1D1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2.5% to 3.5%</a:t>
            </a:r>
            <a:r>
              <a:rPr lang="en-US" sz="4600" kern="0" spc="-93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and settle in </a:t>
            </a:r>
            <a:r>
              <a:rPr lang="en-US" sz="4600" i="1" kern="0" spc="-93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 to 3 days</a:t>
            </a:r>
            <a:r>
              <a:rPr lang="en-US" sz="4600" kern="0" spc="-93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. </a:t>
            </a:r>
            <a:endParaRPr lang="en-US" sz="4600" dirty="0"/>
          </a:p>
        </p:txBody>
      </p:sp>
      <p:sp>
        <p:nvSpPr>
          <p:cNvPr id="18" name="Text 7"/>
          <p:cNvSpPr txBox="1"/>
          <p:nvPr/>
        </p:nvSpPr>
        <p:spPr>
          <a:xfrm>
            <a:off x="914400" y="4190695"/>
            <a:ext cx="78108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6F1D1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44 Million+</a:t>
            </a:r>
            <a:endParaRPr lang="en-US" sz="6400" dirty="0"/>
          </a:p>
        </p:txBody>
      </p:sp>
      <p:sp>
        <p:nvSpPr>
          <p:cNvPr id="19" name="Text 8"/>
          <p:cNvSpPr txBox="1"/>
          <p:nvPr/>
        </p:nvSpPr>
        <p:spPr>
          <a:xfrm>
            <a:off x="914400" y="5152644"/>
            <a:ext cx="7810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6" dirty="0">
                <a:solidFill>
                  <a:srgbClr val="14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SMES LOCKED IN THE CASH LOOP</a:t>
            </a:r>
            <a:endParaRPr lang="en-US" sz="10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5514746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vast majority either pay crippling card processing fees or avoid digital payments entirely, operating on cash — exposing themselves to robbery, counterfeit currency, and invisibility to the formal economy.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6543446"/>
            <a:ext cx="7810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A merchant processing R100,000/month on cards loses </a:t>
            </a:r>
            <a:r>
              <a:rPr lang="en-US" sz="15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R30,000 to R42,000 per year</a:t>
            </a:r>
            <a:r>
              <a:rPr lang="en-US" sz="15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to Visa, Mastercard, acquiring banks, and payment processors. 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9763049" y="4190695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PSEUDO-DIGITAL ILLUSION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9763049" y="4419295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SnapScan is not the alternative.</a:t>
            </a:r>
            <a:endParaRPr lang="en-US" sz="1900" dirty="0"/>
          </a:p>
        </p:txBody>
      </p:sp>
      <p:sp>
        <p:nvSpPr>
          <p:cNvPr id="24" name="Text 13"/>
          <p:cNvSpPr txBox="1"/>
          <p:nvPr/>
        </p:nvSpPr>
        <p:spPr>
          <a:xfrm>
            <a:off x="9763049" y="4762195"/>
            <a:ext cx="7620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Underneath its QR code interface, SnapScan charges </a:t>
            </a:r>
            <a:r>
              <a:rPr lang="en-US" sz="13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2.95% per transaction</a:t>
            </a: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because it routes through the exact same card networks. The QR code is a prettier front door to the same expensive house. </a:t>
            </a:r>
            <a:endParaRPr lang="en-US" sz="1300" dirty="0"/>
          </a:p>
        </p:txBody>
      </p:sp>
      <p:pic>
        <p:nvPicPr>
          <p:cNvPr id="25" name="Image 9" descr="gen-dedup-31bba47dd8cf34bba9abc8e8e7a3981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763049" y="5820156"/>
            <a:ext cx="7619695" cy="91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9763049" y="6057900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UNBANKED REALITY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9763049" y="6286500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57% of adults have no bank account.</a:t>
            </a:r>
            <a:endParaRPr lang="en-US" sz="1900" dirty="0"/>
          </a:p>
        </p:txBody>
      </p:sp>
      <p:sp>
        <p:nvSpPr>
          <p:cNvPr id="28" name="Text 16"/>
          <p:cNvSpPr txBox="1"/>
          <p:nvPr/>
        </p:nvSpPr>
        <p:spPr>
          <a:xfrm>
            <a:off x="9763049" y="6629400"/>
            <a:ext cx="7620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Over 400 million people have no digital payments access. Cards and SnapScan were never built for them. The infrastructure exists in South Africa — what's missing is the application layer. That's PayDuka.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5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6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7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8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9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0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1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pic>
        <p:nvPicPr>
          <p:cNvPr id="12" name="Image 8" descr="gen-dedup-fb2d8a7615b847747f0993b4567c2ead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9144000" y="4190695"/>
            <a:ext cx="9144" cy="4286707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3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 · THE PROOF</a:t>
            </a:r>
            <a:endParaRPr lang="en-US" sz="1000" dirty="0"/>
          </a:p>
        </p:txBody>
      </p:sp>
      <p:sp>
        <p:nvSpPr>
          <p:cNvPr id="15" name="Text 4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BRAZIL PIX TO SOUTH AFRICA · 03</a:t>
            </a:r>
            <a:endParaRPr lang="en-US" sz="1000" dirty="0"/>
          </a:p>
        </p:txBody>
      </p:sp>
      <p:sp>
        <p:nvSpPr>
          <p:cNvPr id="16" name="Text 5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TRILLION-DOLLAR PROVEN MODEL</a:t>
            </a:r>
            <a:endParaRPr lang="en-US" sz="900" dirty="0"/>
          </a:p>
        </p:txBody>
      </p:sp>
      <p:sp>
        <p:nvSpPr>
          <p:cNvPr id="17" name="Text 6"/>
          <p:cNvSpPr txBox="1"/>
          <p:nvPr/>
        </p:nvSpPr>
        <p:spPr>
          <a:xfrm>
            <a:off x="914400" y="1819656"/>
            <a:ext cx="1645920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kern="0" spc="-93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PayDuka is not inventing a new paradigm. We are bringing </a:t>
            </a:r>
            <a:r>
              <a:rPr lang="en-US" sz="4600" i="1" kern="0" spc="-93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Brazil's PIX miracle</a:t>
            </a:r>
            <a:r>
              <a:rPr lang="en-US" sz="4600" kern="0" spc="-93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to the African continent. </a:t>
            </a:r>
            <a:endParaRPr lang="en-US" sz="4600" dirty="0"/>
          </a:p>
        </p:txBody>
      </p:sp>
      <p:sp>
        <p:nvSpPr>
          <p:cNvPr id="18" name="Text 7"/>
          <p:cNvSpPr txBox="1"/>
          <p:nvPr/>
        </p:nvSpPr>
        <p:spPr>
          <a:xfrm>
            <a:off x="914400" y="4190695"/>
            <a:ext cx="7810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LATAM PARADIGM</a:t>
            </a:r>
            <a:endParaRPr lang="en-US" sz="900" dirty="0"/>
          </a:p>
        </p:txBody>
      </p:sp>
      <p:sp>
        <p:nvSpPr>
          <p:cNvPr id="19" name="Text 8"/>
          <p:cNvSpPr txBox="1"/>
          <p:nvPr/>
        </p:nvSpPr>
        <p:spPr>
          <a:xfrm>
            <a:off x="914400" y="4457700"/>
            <a:ext cx="7810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PIX changed Brazil overnight.</a:t>
            </a:r>
            <a:endParaRPr lang="en-US" sz="28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5073091"/>
            <a:ext cx="78108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Launched in Nov 2020. By 2024, it processed </a:t>
            </a:r>
            <a:r>
              <a:rPr lang="en-US" sz="14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64 billion transactions</a:t>
            </a:r>
            <a:r>
              <a:rPr lang="en-US" sz="14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— more than all credit and debit cards in Brazil combined. 150M+ people use it. Merchant fees dropped from 2%+ to 0.22%. Cashless, instant, bank-to-bank ledger. </a:t>
            </a:r>
            <a:endParaRPr lang="en-US" sz="1400" dirty="0"/>
          </a:p>
        </p:txBody>
      </p:sp>
      <p:sp>
        <p:nvSpPr>
          <p:cNvPr id="21" name="Shape 10"/>
          <p:cNvSpPr/>
          <p:nvPr/>
        </p:nvSpPr>
        <p:spPr>
          <a:xfrm>
            <a:off x="914400" y="6115507"/>
            <a:ext cx="7810805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1"/>
          <p:cNvSpPr txBox="1"/>
          <p:nvPr/>
        </p:nvSpPr>
        <p:spPr>
          <a:xfrm>
            <a:off x="914400" y="6315761"/>
            <a:ext cx="381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PIX Transaction Fees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914400" y="6516014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0.22% average</a:t>
            </a:r>
            <a:endParaRPr lang="en-US" sz="2700" dirty="0"/>
          </a:p>
        </p:txBody>
      </p:sp>
      <p:sp>
        <p:nvSpPr>
          <p:cNvPr id="24" name="Text 13"/>
          <p:cNvSpPr txBox="1"/>
          <p:nvPr/>
        </p:nvSpPr>
        <p:spPr>
          <a:xfrm>
            <a:off x="4914900" y="6315761"/>
            <a:ext cx="381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Penetration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4914900" y="6516014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150 Million+</a:t>
            </a:r>
            <a:endParaRPr lang="en-US" sz="2700" dirty="0"/>
          </a:p>
        </p:txBody>
      </p:sp>
      <p:sp>
        <p:nvSpPr>
          <p:cNvPr id="26" name="Text 15"/>
          <p:cNvSpPr txBox="1"/>
          <p:nvPr/>
        </p:nvSpPr>
        <p:spPr>
          <a:xfrm>
            <a:off x="9763049" y="4190695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SOUTH AFRICAN BLUEPRINT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9763049" y="4457700"/>
            <a:ext cx="9906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rails are live. The App layer is missing.</a:t>
            </a:r>
            <a:endParaRPr lang="en-US" sz="2800" dirty="0"/>
          </a:p>
        </p:txBody>
      </p:sp>
      <p:sp>
        <p:nvSpPr>
          <p:cNvPr id="28" name="Text 17"/>
          <p:cNvSpPr txBox="1"/>
          <p:nvPr/>
        </p:nvSpPr>
        <p:spPr>
          <a:xfrm>
            <a:off x="9763049" y="5073091"/>
            <a:ext cx="7620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South Africa now has the exact same underlying infrastructure ready to be captured. 11 major banks are fully integrated.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9763049" y="5844845"/>
            <a:ext cx="7619695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19"/>
          <p:cNvSpPr txBox="1"/>
          <p:nvPr/>
        </p:nvSpPr>
        <p:spPr>
          <a:xfrm>
            <a:off x="9763049" y="6044184"/>
            <a:ext cx="2686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PayShap API (Launched 2023)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16216884" y="6054242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Instant Interbank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9763049" y="6330391"/>
            <a:ext cx="34225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PayShap Request (Launched Dec 2024)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6491204" y="6339535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Pull Requests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9763049" y="6615684"/>
            <a:ext cx="20857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Capitec Pay Direct APIs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16354044" y="6625742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Capped at R7/tx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5ac03a448e801a65236894c5e603f80e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14400" y="2667305"/>
            <a:ext cx="164592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952598"/>
            <a:ext cx="5143500" cy="5810098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572707" y="2952598"/>
            <a:ext cx="5143500" cy="5810098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2230100" y="2952598"/>
            <a:ext cx="5143500" cy="5810098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gen-dedup-8b1bfdb0f8d41b4bf341a0051af875cb.png"/>
          <p:cNvPicPr>
            <a:picLocks noChangeAspect="1"/>
          </p:cNvPicPr>
          <p:nvPr/>
        </p:nvPicPr>
        <p:blipFill>
          <a:blip r:embed="rId4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9" name="Image 2" descr="gen-dedup-921ad8a4e28f4448bb9e195da3793ea6.png"/>
          <p:cNvPicPr>
            <a:picLocks noChangeAspect="1"/>
          </p:cNvPicPr>
          <p:nvPr/>
        </p:nvPicPr>
        <p:blipFill>
          <a:blip r:embed="rId5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10" name="Image 3" descr="gen-dedup-8b1bfdb0f8d41b4bf341a0051af875cb.png"/>
          <p:cNvPicPr>
            <a:picLocks noChangeAspect="1"/>
          </p:cNvPicPr>
          <p:nvPr/>
        </p:nvPicPr>
        <p:blipFill>
          <a:blip r:embed="rId4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11" name="Image 4" descr="gen-dedup-921ad8a4e28f4448bb9e195da3793ea6.png"/>
          <p:cNvPicPr>
            <a:picLocks noChangeAspect="1"/>
          </p:cNvPicPr>
          <p:nvPr/>
        </p:nvPicPr>
        <p:blipFill>
          <a:blip r:embed="rId5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12" name="Image 5" descr="gen-dedup-8b1bfdb0f8d41b4bf341a0051af875cb.png"/>
          <p:cNvPicPr>
            <a:picLocks noChangeAspect="1"/>
          </p:cNvPicPr>
          <p:nvPr/>
        </p:nvPicPr>
        <p:blipFill>
          <a:blip r:embed="rId4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3" name="Image 6" descr="gen-dedup-921ad8a4e28f4448bb9e195da3793ea6.png"/>
          <p:cNvPicPr>
            <a:picLocks noChangeAspect="1"/>
          </p:cNvPicPr>
          <p:nvPr/>
        </p:nvPicPr>
        <p:blipFill>
          <a:blip r:embed="rId5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4" name="Image 7" descr="gen-dedup-8b1bfdb0f8d41b4bf341a0051af875cb.png"/>
          <p:cNvPicPr>
            <a:picLocks noChangeAspect="1"/>
          </p:cNvPicPr>
          <p:nvPr/>
        </p:nvPicPr>
        <p:blipFill>
          <a:blip r:embed="rId4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5" name="Image 8" descr="gen-dedup-921ad8a4e28f4448bb9e195da3793ea6.png"/>
          <p:cNvPicPr>
            <a:picLocks noChangeAspect="1"/>
          </p:cNvPicPr>
          <p:nvPr/>
        </p:nvPicPr>
        <p:blipFill>
          <a:blip r:embed="rId5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6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III · THE PRODUCT</a:t>
            </a:r>
            <a:endParaRPr lang="en-US" sz="1000" dirty="0"/>
          </a:p>
        </p:txBody>
      </p:sp>
      <p:sp>
        <p:nvSpPr>
          <p:cNvPr id="18" name="Text 7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PAYDUKA ECOSYSTEM RAILS · 04</a:t>
            </a:r>
            <a:endParaRPr lang="en-US" sz="1000" dirty="0"/>
          </a:p>
        </p:txBody>
      </p:sp>
      <p:sp>
        <p:nvSpPr>
          <p:cNvPr id="19" name="Text 8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SEGMENTED PATHWAYS</a:t>
            </a:r>
            <a:endParaRPr lang="en-US" sz="9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1819656"/>
            <a:ext cx="1645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kern="0" spc="-81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One single, seamless interface. The merchant automatically receives the </a:t>
            </a:r>
            <a:r>
              <a:rPr lang="en-US" sz="4000" i="1" kern="0" spc="-81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lowest fee</a:t>
            </a:r>
            <a:r>
              <a:rPr lang="en-US" sz="4000" kern="0" spc="-81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and the </a:t>
            </a:r>
            <a:r>
              <a:rPr lang="en-US" sz="4000" i="1" kern="0" spc="-8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fastest settlement</a:t>
            </a:r>
            <a:r>
              <a:rPr lang="en-US" sz="4000" kern="0" spc="-81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path available. </a:t>
            </a:r>
            <a:endParaRPr lang="en-US" sz="4000" dirty="0"/>
          </a:p>
        </p:txBody>
      </p:sp>
      <p:sp>
        <p:nvSpPr>
          <p:cNvPr id="21" name="Text 10"/>
          <p:cNvSpPr txBox="1"/>
          <p:nvPr/>
        </p:nvSpPr>
        <p:spPr>
          <a:xfrm>
            <a:off x="1200607" y="3238805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1 — LOWEST COST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200607" y="3504895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PayDuka Wallet</a:t>
            </a:r>
            <a:endParaRPr lang="en-US" sz="2400" dirty="0"/>
          </a:p>
        </p:txBody>
      </p:sp>
      <p:sp>
        <p:nvSpPr>
          <p:cNvPr id="23" name="Text 12"/>
          <p:cNvSpPr txBox="1"/>
          <p:nvPr/>
        </p:nvSpPr>
        <p:spPr>
          <a:xfrm>
            <a:off x="1200607" y="4023360"/>
            <a:ext cx="4572000" cy="391363"/>
          </a:xfrm>
          <a:prstGeom prst="rect">
            <a:avLst/>
          </a:prstGeom>
          <a:solidFill>
            <a:srgbClr val="14110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kern="0" spc="39" dirty="0">
                <a:solidFill>
                  <a:srgbClr val="F1ED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MERCHANT FEE: R2 — R3 FLAT · INSTANT</a:t>
            </a:r>
            <a:endParaRPr lang="en-US" sz="900" dirty="0"/>
          </a:p>
        </p:txBody>
      </p:sp>
      <p:sp>
        <p:nvSpPr>
          <p:cNvPr id="24" name="Text 13"/>
          <p:cNvSpPr txBox="1"/>
          <p:nvPr/>
        </p:nvSpPr>
        <p:spPr>
          <a:xfrm>
            <a:off x="1200607" y="4604004"/>
            <a:ext cx="45720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Customer links their bank once and enables </a:t>
            </a:r>
            <a:r>
              <a:rPr lang="en-US" sz="13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auto-refill</a:t>
            </a: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(e.g. pulls R1,000 when balance drops below R500). Wallet maintains itself invisibly. 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1200607" y="5547665"/>
            <a:ext cx="45720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Structural internal ledger transfer bypasses standard card network tolls completely. Serves unbanked populations via integrated cash agents.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6858000" y="3238805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2 — SPEED &amp; LIQUIDITY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6858000" y="3504895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Card with Advance</a:t>
            </a:r>
            <a:endParaRPr lang="en-US" sz="2400" dirty="0"/>
          </a:p>
        </p:txBody>
      </p:sp>
      <p:sp>
        <p:nvSpPr>
          <p:cNvPr id="28" name="Text 17"/>
          <p:cNvSpPr txBox="1"/>
          <p:nvPr/>
        </p:nvSpPr>
        <p:spPr>
          <a:xfrm>
            <a:off x="6858000" y="4023360"/>
            <a:ext cx="4572000" cy="391363"/>
          </a:xfrm>
          <a:prstGeom prst="rect">
            <a:avLst/>
          </a:prstGeom>
          <a:solidFill>
            <a:srgbClr val="14110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kern="0" spc="39" dirty="0">
                <a:solidFill>
                  <a:srgbClr val="F1ED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SPREAD FEE: 1.0% — 2.0% · SAME-DAY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6858000" y="4604004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pays with standard Visa or Mastercard (2.5–3.5% network fee applies).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6858000" y="5289804"/>
            <a:ext cx="45720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Instead of waiting 1–3 business days, PayDuka advances the settlement amount directly into the merchant's wallet within minutes. Liquidity is resolved.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12516307" y="3238805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3 — DIRECT RAILS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12516307" y="3504895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Direct Bank</a:t>
            </a:r>
            <a:endParaRPr lang="en-US" sz="2400" dirty="0"/>
          </a:p>
        </p:txBody>
      </p:sp>
      <p:sp>
        <p:nvSpPr>
          <p:cNvPr id="33" name="Text 22"/>
          <p:cNvSpPr txBox="1"/>
          <p:nvPr/>
        </p:nvSpPr>
        <p:spPr>
          <a:xfrm>
            <a:off x="12516307" y="4023360"/>
            <a:ext cx="4572000" cy="391363"/>
          </a:xfrm>
          <a:prstGeom prst="rect">
            <a:avLst/>
          </a:prstGeom>
          <a:solidFill>
            <a:srgbClr val="14110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kern="0" spc="39" dirty="0">
                <a:solidFill>
                  <a:srgbClr val="F1ED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MERCHANT FEE: R5 — R7 FLAT · INSTANT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12516307" y="4604004"/>
            <a:ext cx="45720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does not have a wallet but owns a traditional bank account. PayDuka pulls money instantly via integrated bank APIs.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12516307" y="5547665"/>
            <a:ext cx="45720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Routes via </a:t>
            </a:r>
            <a:r>
              <a:rPr lang="en-US" sz="13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PayShap Request</a:t>
            </a: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or </a:t>
            </a:r>
            <a:r>
              <a:rPr lang="en-US" sz="13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Capitec Pay</a:t>
            </a:r>
            <a:r>
              <a:rPr lang="en-US" sz="13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. Bypasses credit card schemes entirely, offering safe interbank clearance. 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525305" y="3429000"/>
            <a:ext cx="7848295" cy="4953305"/>
          </a:xfrm>
          <a:prstGeom prst="rect">
            <a:avLst/>
          </a:prstGeom>
          <a:solidFill>
            <a:srgbClr val="191612"/>
          </a:solidFill>
          <a:ln w="12700">
            <a:solidFill>
              <a:srgbClr val="2D28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6" name="Image 1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7" name="Image 2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8" name="Image 3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9" name="Image 4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0" name="Image 5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1" name="Image 6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2" name="Image 7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pic>
        <p:nvPicPr>
          <p:cNvPr id="13" name="Image 8" descr="gen-dedup-eaea7947c2c511196426b08182c5ed90.png"/>
          <p:cNvPicPr>
            <a:picLocks noChangeAspect="1"/>
          </p:cNvPicPr>
          <p:nvPr/>
        </p:nvPicPr>
        <p:blipFill>
          <a:blip r:embed="rId5">
            <a:alphaModFix amt="15000"/>
          </a:blip>
          <a:srcRect t="-2089" b="-2089"/>
          <a:stretch/>
        </p:blipFill>
        <p:spPr>
          <a:xfrm>
            <a:off x="9144000" y="3429000"/>
            <a:ext cx="9144" cy="4953305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4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IV · FINANCIAL ENGINEERING</a:t>
            </a:r>
            <a:endParaRPr lang="en-US" sz="1000" dirty="0"/>
          </a:p>
        </p:txBody>
      </p:sp>
      <p:sp>
        <p:nvSpPr>
          <p:cNvPr id="16" name="Text 5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ADVANCE ROADMAP · 05</a:t>
            </a:r>
            <a:endParaRPr lang="en-US" sz="1000" dirty="0"/>
          </a:p>
        </p:txBody>
      </p:sp>
      <p:sp>
        <p:nvSpPr>
          <p:cNvPr id="17" name="Text 6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FINANCING THE LIQUIDITY GAP</a:t>
            </a:r>
            <a:endParaRPr lang="en-US" sz="900" dirty="0"/>
          </a:p>
        </p:txBody>
      </p:sp>
      <p:sp>
        <p:nvSpPr>
          <p:cNvPr id="18" name="Text 7"/>
          <p:cNvSpPr txBox="1"/>
          <p:nvPr/>
        </p:nvSpPr>
        <p:spPr>
          <a:xfrm>
            <a:off x="914400" y="1819656"/>
            <a:ext cx="1645920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kern="0" spc="-93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PayDuka does not simply route transactions. We finance the </a:t>
            </a:r>
            <a:r>
              <a:rPr lang="en-US" sz="4600" i="1" kern="0" spc="-93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receivable gaps</a:t>
            </a:r>
            <a:r>
              <a:rPr lang="en-US" sz="4600" kern="0" spc="-93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generated by card networks. </a:t>
            </a:r>
            <a:endParaRPr lang="en-US" sz="4600" dirty="0"/>
          </a:p>
        </p:txBody>
      </p:sp>
      <p:sp>
        <p:nvSpPr>
          <p:cNvPr id="19" name="Text 8"/>
          <p:cNvSpPr txBox="1"/>
          <p:nvPr/>
        </p:nvSpPr>
        <p:spPr>
          <a:xfrm>
            <a:off x="914400" y="3429000"/>
            <a:ext cx="7810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LIQUIDITY GAP</a:t>
            </a:r>
            <a:endParaRPr lang="en-US" sz="9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3696005"/>
            <a:ext cx="78108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restaurant owner who does R30,000 on Friday night cannot buy fresh food Saturday morning.</a:t>
            </a:r>
            <a:endParaRPr lang="en-US" sz="27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4709160"/>
            <a:ext cx="7810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Card schemes hold funds for 1 to 3 days. Small businesses are choked of basic operational capital.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914400" y="5470855"/>
            <a:ext cx="7810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PayDuka Same-Day Advance:</a:t>
            </a:r>
            <a:r>
              <a:rPr lang="en-US" sz="1500" dirty="0">
                <a:solidFill>
                  <a:srgbClr val="E6DEC9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When a card transaction is authorized, we instantly credit the merchant's internal wallet (minus a 1.0–2.0% advance fee). We then collect from the networks later. </a:t>
            </a:r>
            <a:endParaRPr lang="en-US" sz="1500" dirty="0"/>
          </a:p>
        </p:txBody>
      </p:sp>
      <p:sp>
        <p:nvSpPr>
          <p:cNvPr id="23" name="Shape 12"/>
          <p:cNvSpPr/>
          <p:nvPr/>
        </p:nvSpPr>
        <p:spPr>
          <a:xfrm>
            <a:off x="914400" y="6613855"/>
            <a:ext cx="9144" cy="161849"/>
          </a:xfrm>
          <a:prstGeom prst="rect">
            <a:avLst/>
          </a:prstGeom>
          <a:solidFill>
            <a:srgbClr val="9A7634"/>
          </a:solidFill>
          <a:ln w="12700">
            <a:solidFill>
              <a:srgbClr val="9A7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3"/>
          <p:cNvSpPr txBox="1"/>
          <p:nvPr/>
        </p:nvSpPr>
        <p:spPr>
          <a:xfrm>
            <a:off x="1066190" y="6613855"/>
            <a:ext cx="765901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9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COMPETITOR OFFERS THIS. Yoco, iKhokha, SnapScan settle strictly on card scheme timelines.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9905695" y="3810305"/>
            <a:ext cx="7086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RISK-CONTROLLED INVESTMENT</a:t>
            </a:r>
            <a:endParaRPr lang="en-US" sz="900" dirty="0"/>
          </a:p>
        </p:txBody>
      </p:sp>
      <p:sp>
        <p:nvSpPr>
          <p:cNvPr id="26" name="Text 15"/>
          <p:cNvSpPr txBox="1"/>
          <p:nvPr/>
        </p:nvSpPr>
        <p:spPr>
          <a:xfrm>
            <a:off x="9905695" y="4076395"/>
            <a:ext cx="70866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Why this is nearly risk-free:</a:t>
            </a:r>
            <a:endParaRPr lang="en-US" sz="2400" dirty="0"/>
          </a:p>
        </p:txBody>
      </p:sp>
      <p:sp>
        <p:nvSpPr>
          <p:cNvPr id="27" name="Text 16"/>
          <p:cNvSpPr txBox="1"/>
          <p:nvPr/>
        </p:nvSpPr>
        <p:spPr>
          <a:xfrm>
            <a:off x="9905695" y="4552798"/>
            <a:ext cx="708660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receivable is confirmed — the scheme has already authorized the payment. We are lending against near-certain capital with a 1-3 day duration. Chargeback risks are mitigated through a 5% rolling reserve, advanced fraud scoring, and a 30-day vetting qualification period.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9905695" y="5901538"/>
            <a:ext cx="7086600" cy="9144"/>
          </a:xfrm>
          <a:prstGeom prst="rect">
            <a:avLst/>
          </a:prstGeom>
          <a:solidFill>
            <a:srgbClr val="2D2823"/>
          </a:solidFill>
          <a:ln w="12700">
            <a:solidFill>
              <a:srgbClr val="2D28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18"/>
          <p:cNvSpPr txBox="1"/>
          <p:nvPr/>
        </p:nvSpPr>
        <p:spPr>
          <a:xfrm>
            <a:off x="9905695" y="6101791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REVENUE Y1</a:t>
            </a:r>
            <a:endParaRPr lang="en-US" sz="800" dirty="0"/>
          </a:p>
        </p:txBody>
      </p:sp>
      <p:sp>
        <p:nvSpPr>
          <p:cNvPr id="30" name="Text 19"/>
          <p:cNvSpPr txBox="1"/>
          <p:nvPr/>
        </p:nvSpPr>
        <p:spPr>
          <a:xfrm>
            <a:off x="9905695" y="6272784"/>
            <a:ext cx="1257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R1.5M</a:t>
            </a:r>
            <a:endParaRPr lang="en-US" sz="2700" dirty="0"/>
          </a:p>
        </p:txBody>
      </p:sp>
      <p:sp>
        <p:nvSpPr>
          <p:cNvPr id="31" name="Text 20"/>
          <p:cNvSpPr txBox="1"/>
          <p:nvPr/>
        </p:nvSpPr>
        <p:spPr>
          <a:xfrm>
            <a:off x="12989052" y="6101791"/>
            <a:ext cx="1305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REVENUE Y3</a:t>
            </a:r>
            <a:endParaRPr lang="en-US" sz="800" dirty="0"/>
          </a:p>
        </p:txBody>
      </p:sp>
      <p:sp>
        <p:nvSpPr>
          <p:cNvPr id="32" name="Text 21"/>
          <p:cNvSpPr txBox="1"/>
          <p:nvPr/>
        </p:nvSpPr>
        <p:spPr>
          <a:xfrm>
            <a:off x="12989052" y="6272784"/>
            <a:ext cx="1305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R15.0M</a:t>
            </a:r>
            <a:endParaRPr lang="en-US" sz="2700" dirty="0"/>
          </a:p>
        </p:txBody>
      </p:sp>
      <p:sp>
        <p:nvSpPr>
          <p:cNvPr id="33" name="Text 22"/>
          <p:cNvSpPr txBox="1"/>
          <p:nvPr/>
        </p:nvSpPr>
        <p:spPr>
          <a:xfrm>
            <a:off x="16114471" y="6101791"/>
            <a:ext cx="8860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GROSS MARGINS</a:t>
            </a:r>
            <a:endParaRPr lang="en-US" sz="800" dirty="0"/>
          </a:p>
        </p:txBody>
      </p:sp>
      <p:sp>
        <p:nvSpPr>
          <p:cNvPr id="34" name="Text 23"/>
          <p:cNvSpPr txBox="1"/>
          <p:nvPr/>
        </p:nvSpPr>
        <p:spPr>
          <a:xfrm>
            <a:off x="16114471" y="6272784"/>
            <a:ext cx="886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80%+</a:t>
            </a:r>
            <a:endParaRPr lang="en-US" sz="2700" dirty="0"/>
          </a:p>
        </p:txBody>
      </p:sp>
      <p:sp>
        <p:nvSpPr>
          <p:cNvPr id="35" name="Text 24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5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6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7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8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9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0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1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3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· FEE COMPARISON</a:t>
            </a:r>
            <a:endParaRPr lang="en-US" sz="1000" dirty="0"/>
          </a:p>
        </p:txBody>
      </p:sp>
      <p:sp>
        <p:nvSpPr>
          <p:cNvPr id="14" name="Text 4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REDUCTION · 06</a:t>
            </a:r>
            <a:endParaRPr lang="en-US" sz="1000" dirty="0"/>
          </a:p>
        </p:txBody>
      </p:sp>
      <p:sp>
        <p:nvSpPr>
          <p:cNvPr id="15" name="Text 5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REDUCING INTERMEDIARY COSTS</a:t>
            </a:r>
            <a:endParaRPr lang="en-US" sz="900" dirty="0"/>
          </a:p>
        </p:txBody>
      </p:sp>
      <p:sp>
        <p:nvSpPr>
          <p:cNvPr id="16" name="Text 6"/>
          <p:cNvSpPr txBox="1"/>
          <p:nvPr/>
        </p:nvSpPr>
        <p:spPr>
          <a:xfrm>
            <a:off x="914400" y="1819656"/>
            <a:ext cx="1645920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Drastic cost comparison for a typical merchant processing </a:t>
            </a:r>
            <a:r>
              <a:rPr lang="en-US" sz="4200" i="1" kern="0" spc="-84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R100,000 / month</a:t>
            </a:r>
            <a:r>
              <a:rPr lang="en-US" sz="4200" kern="0" spc="-84" dirty="0">
                <a:solidFill>
                  <a:srgbClr val="14110D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(400 transactions). </a:t>
            </a:r>
            <a:endParaRPr lang="en-US" sz="4200" dirty="0"/>
          </a:p>
        </p:txBody>
      </p:sp>
      <p:sp>
        <p:nvSpPr>
          <p:cNvPr id="17" name="Shape 7"/>
          <p:cNvSpPr/>
          <p:nvPr/>
        </p:nvSpPr>
        <p:spPr>
          <a:xfrm>
            <a:off x="914400" y="2952598"/>
            <a:ext cx="16459200" cy="4572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598"/>
          <a:ext cx="16459200" cy="3210458"/>
        </p:xfrm>
        <a:graphic>
          <a:graphicData uri="http://schemas.openxmlformats.org/drawingml/2006/table">
            <a:tbl>
              <a:tblPr/>
              <a:tblGrid>
                <a:gridCol w="4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0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METRICS</a:t>
                      </a:r>
                      <a:endParaRPr lang="en-US" sz="9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110D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YOCO (CARD)</a:t>
                      </a:r>
                      <a:endParaRPr lang="en-US" sz="1800" dirty="0">
                        <a:latin typeface="Newsreader" charset="0"/>
                        <a:ea typeface="Newsreader" charset="0"/>
                        <a:cs typeface="Newsreader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110D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SNAPSCAN (QR)</a:t>
                      </a:r>
                      <a:endParaRPr lang="en-US" sz="1800" dirty="0">
                        <a:latin typeface="Newsreader" charset="0"/>
                        <a:ea typeface="Newsreader" charset="0"/>
                        <a:cs typeface="Newsreader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9A7634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PAYDUKA (BLENDED)*</a:t>
                      </a:r>
                      <a:endParaRPr lang="en-US" sz="1800" dirty="0">
                        <a:latin typeface="Newsreader" charset="0"/>
                        <a:ea typeface="Newsreader" charset="0"/>
                        <a:cs typeface="Newsreader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110D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PAYDUKA (100% WALLET)</a:t>
                      </a:r>
                      <a:endParaRPr lang="en-US" sz="1800" dirty="0">
                        <a:latin typeface="Newsreader" charset="0"/>
                        <a:ea typeface="Newsreader" charset="0"/>
                        <a:cs typeface="Newsreader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Monthly Toll Fees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R2,750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R2,950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9A763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R2,200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411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R800 — R1,200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Annual Fee Drain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R33,000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R35,400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9A763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R26,400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6F1D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R9,600 — R14,400</a:t>
                      </a:r>
                      <a:endParaRPr lang="en-US" sz="14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Settlement Speed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B635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 — 3 Days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B635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Next Day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Instant / Same-Day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Instant (&lt;2s)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Same-Day Advance?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F1D1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F1D1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9A76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B635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Not Needed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Serves Unbanked?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F1D1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6F1D1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9A76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 (via agents)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90195" marR="190195" marT="152705" marB="152705" anchor="ctr">
                    <a:lnL w="9525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FC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8"/>
          <p:cNvSpPr txBox="1"/>
          <p:nvPr/>
        </p:nvSpPr>
        <p:spPr>
          <a:xfrm>
            <a:off x="914400" y="7715707"/>
            <a:ext cx="7620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*</a:t>
            </a:r>
            <a:r>
              <a:rPr lang="en-US" sz="12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PayDuka Blended</a:t>
            </a:r>
            <a:r>
              <a:rPr lang="en-US" sz="12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assumes an early-stage transaction mix: 40% wallet ledger transfers, 40% standard card network settlements, and 20% same-day card advances. </a:t>
            </a:r>
            <a:endParaRPr lang="en-US" sz="12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8277149"/>
            <a:ext cx="7620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Merchants capture financial savings from day one, and save more as ecosystem network effects expand.</a:t>
            </a: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534449" y="7715707"/>
            <a:ext cx="7839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Point-of-Sale Conversion Loop</a:t>
            </a:r>
            <a:endParaRPr lang="en-US" sz="1600" dirty="0"/>
          </a:p>
        </p:txBody>
      </p:sp>
      <p:sp>
        <p:nvSpPr>
          <p:cNvPr id="22" name="Text 11"/>
          <p:cNvSpPr txBox="1"/>
          <p:nvPr/>
        </p:nvSpPr>
        <p:spPr>
          <a:xfrm>
            <a:off x="9534449" y="7981798"/>
            <a:ext cx="7839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Merchants are heavily motivated to suggest wallet payments (R2–R3 vs. R25–R35 credit card fees). Simple counter signage ("Pay with PayDuka — it's faster") drives organic, zero-CAC consumer wallet acquisition.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2952598"/>
            <a:ext cx="5143500" cy="2762402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572707" y="2952598"/>
            <a:ext cx="5143500" cy="2762402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2230100" y="2952598"/>
            <a:ext cx="5143500" cy="2762402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0" y="6001207"/>
            <a:ext cx="8001000" cy="2762402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372600" y="6001207"/>
            <a:ext cx="8001000" cy="2762402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10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11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12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13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4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5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6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8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 · USE CASES</a:t>
            </a:r>
            <a:endParaRPr lang="en-US" sz="1000" dirty="0"/>
          </a:p>
        </p:txBody>
      </p:sp>
      <p:sp>
        <p:nvSpPr>
          <p:cNvPr id="19" name="Text 9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REAL-WORLD UTILITY · 07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PENETRATION MAPS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914400" y="1819656"/>
            <a:ext cx="18745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Deploying direct value across the entire financial hierarchy.</a:t>
            </a:r>
            <a:endParaRPr lang="en-US" sz="4200" dirty="0"/>
          </a:p>
        </p:txBody>
      </p:sp>
      <p:sp>
        <p:nvSpPr>
          <p:cNvPr id="22" name="Text 12"/>
          <p:cNvSpPr txBox="1"/>
          <p:nvPr/>
        </p:nvSpPr>
        <p:spPr>
          <a:xfrm>
            <a:off x="1200607" y="3238805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SOWETO RETAIL</a:t>
            </a:r>
            <a:endParaRPr lang="en-US" sz="800" dirty="0"/>
          </a:p>
        </p:txBody>
      </p:sp>
      <p:sp>
        <p:nvSpPr>
          <p:cNvPr id="23" name="Text 13"/>
          <p:cNvSpPr txBox="1"/>
          <p:nvPr/>
        </p:nvSpPr>
        <p:spPr>
          <a:xfrm>
            <a:off x="1200607" y="344820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Saves R18,600—R25,800/yr</a:t>
            </a:r>
            <a:endParaRPr lang="en-US" sz="1800" dirty="0"/>
          </a:p>
        </p:txBody>
      </p:sp>
      <p:sp>
        <p:nvSpPr>
          <p:cNvPr id="24" name="Text 14"/>
          <p:cNvSpPr txBox="1"/>
          <p:nvPr/>
        </p:nvSpPr>
        <p:spPr>
          <a:xfrm>
            <a:off x="1200607" y="3771900"/>
            <a:ext cx="4572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corner grocery store processing R100k/mo. Bypasses standard card terminal delays and gets instant cash flow with card advances to restock fresh goods daily.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6858000" y="3238805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STREET COMMERCE</a:t>
            </a:r>
            <a:endParaRPr lang="en-US" sz="800" dirty="0"/>
          </a:p>
        </p:txBody>
      </p:sp>
      <p:sp>
        <p:nvSpPr>
          <p:cNvPr id="26" name="Text 16"/>
          <p:cNvSpPr txBox="1"/>
          <p:nvPr/>
        </p:nvSpPr>
        <p:spPr>
          <a:xfrm>
            <a:off x="6858000" y="344820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Bypasses absolute cash risk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6858000" y="3771900"/>
            <a:ext cx="4572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taxi rank vendor. No bank terminals. Displays a printed QR code. Consumers scan and pay in 2 seconds. Eliminates the physical danger of cash and counterfeiting.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2516307" y="3238805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UNBANKED</a:t>
            </a:r>
            <a:endParaRPr lang="en-US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12516307" y="344820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Sovereign wallet accounts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12516307" y="3771900"/>
            <a:ext cx="4572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unbanked domestic worker. Receives salary via P2P ledger. Loads cash at local spaza shops. Pays anyone seamlessly via scan. PayDuka becomes their secure bank.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1200607" y="6286500"/>
            <a:ext cx="7429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CROSS-BORDER (PHASE 4)</a:t>
            </a:r>
            <a:endParaRPr lang="en-US" sz="8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6495898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USDC Settlements on Polygon &lt; 60 seconds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1200607" y="6819595"/>
            <a:ext cx="7429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Kenyan retailer paying a South African merchant $2,000. Under traditional banking: takes 3-5 days and costs $100-$160. Under PayDuka stablecoin layers: settles in under 60 seconds for a total fee of $10-$20. Saving per transfer: </a:t>
            </a:r>
            <a:r>
              <a:rPr lang="en-US" sz="12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$80 – $140</a:t>
            </a:r>
            <a:r>
              <a:rPr lang="en-US" sz="12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. 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9658807" y="6286500"/>
            <a:ext cx="7429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FRANCHISE PILOT (PHASE 3) — LIVE VALIDATION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9658807" y="6495898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live, breathing proof-of-concept store</a:t>
            </a:r>
            <a:endParaRPr lang="en-US" sz="1800" dirty="0"/>
          </a:p>
        </p:txBody>
      </p:sp>
      <p:sp>
        <p:nvSpPr>
          <p:cNvPr id="36" name="Text 26"/>
          <p:cNvSpPr txBox="1"/>
          <p:nvPr/>
        </p:nvSpPr>
        <p:spPr>
          <a:xfrm>
            <a:off x="9658807" y="6819595"/>
            <a:ext cx="7429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run a pilot franchise retail store. Every transaction processes through PayDuka PoS. Staff salaries paid via wallets. 6 months of hard operational data — transactional speeds, settlement reliability, margins — becomes our pitch to national giants like SPAR, Pick n Pay, and Food Lover's Market.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2952598"/>
            <a:ext cx="16459200" cy="952805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0" y="4048049"/>
            <a:ext cx="16459200" cy="952805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0" y="5143500"/>
            <a:ext cx="16459200" cy="952805"/>
          </a:xfrm>
          <a:prstGeom prst="rect">
            <a:avLst/>
          </a:prstGeom>
          <a:solidFill>
            <a:srgbClr val="E6DEC9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0" y="6238951"/>
            <a:ext cx="16459200" cy="952805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14400" y="7334402"/>
            <a:ext cx="16459200" cy="952805"/>
          </a:xfrm>
          <a:prstGeom prst="rect">
            <a:avLst/>
          </a:prstGeom>
          <a:solidFill>
            <a:srgbClr val="E6DEC9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10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11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12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13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4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5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6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8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VII · THE TECHNOLOGY</a:t>
            </a:r>
            <a:endParaRPr lang="en-US" sz="1000" dirty="0"/>
          </a:p>
        </p:txBody>
      </p:sp>
      <p:sp>
        <p:nvSpPr>
          <p:cNvPr id="19" name="Text 9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MODULAR FIVE-LAYER STACK · 08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ROBUST ARCHITECTURAL LAYERING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914400" y="1819656"/>
            <a:ext cx="18745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independent, highly decoupled and replaceable execution layers.</a:t>
            </a:r>
            <a:endParaRPr lang="en-US" sz="4200" dirty="0"/>
          </a:p>
        </p:txBody>
      </p:sp>
      <p:sp>
        <p:nvSpPr>
          <p:cNvPr id="22" name="Text 12"/>
          <p:cNvSpPr txBox="1"/>
          <p:nvPr/>
        </p:nvSpPr>
        <p:spPr>
          <a:xfrm>
            <a:off x="1295705" y="3188513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1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5219395" y="3143707"/>
            <a:ext cx="1177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React Native Consumer &amp; Merchant PoS apps (Android/iOS). QR scanning engine, native biometric authentication, auto-refill management, card reader bluetooth connectivity, PayShap Request.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295705" y="3341218"/>
            <a:ext cx="24825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Application Frontends</a:t>
            </a:r>
            <a:endParaRPr lang="en-US" sz="1600" dirty="0"/>
          </a:p>
        </p:txBody>
      </p:sp>
      <p:sp>
        <p:nvSpPr>
          <p:cNvPr id="25" name="Text 15"/>
          <p:cNvSpPr txBox="1"/>
          <p:nvPr/>
        </p:nvSpPr>
        <p:spPr>
          <a:xfrm>
            <a:off x="1295705" y="4283964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2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5219395" y="4238244"/>
            <a:ext cx="1177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NestJS on AWS Cape Town region. Append-only transactions ledger stored in PostgreSQL + Redis cache. Asynchronous queue processing via BullMQ. Auth, Wallet, Refill, Advance, Fraud services.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295705" y="4436669"/>
            <a:ext cx="24487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Modular Backend API</a:t>
            </a:r>
            <a:endParaRPr lang="en-US" sz="1600" dirty="0"/>
          </a:p>
        </p:txBody>
      </p:sp>
      <p:sp>
        <p:nvSpPr>
          <p:cNvPr id="28" name="Text 18"/>
          <p:cNvSpPr txBox="1"/>
          <p:nvPr/>
        </p:nvSpPr>
        <p:spPr>
          <a:xfrm>
            <a:off x="1295705" y="5379415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3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5219395" y="5333695"/>
            <a:ext cx="1177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Direct integrations via Stitch API: PayShap Request, Capitec Pay, DebiCheck auto-refill mandates, standard debit card acquiring. M-Pesa API integration for East Africa.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1295705" y="5532120"/>
            <a:ext cx="21424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Bank-to-Bank Rails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1295705" y="6474866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4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5219395" y="6429146"/>
            <a:ext cx="1177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Calculates real-time merchant credit risk levels, validates card schemes authorizations, instantly moves cash to wallets. Continuous reconcilement with acquirer settlements.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295705" y="6627571"/>
            <a:ext cx="2267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Advance Engine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1295705" y="7570318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5 (PHASE 3+)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5219395" y="7524598"/>
            <a:ext cx="1177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Polygon Mainnet. SettlementRegistry smart contracts store immutable proof of clearance. ERC-20 PDukaToken loyalty mechanisms. Completely decoupled — core operations run uninterrupted if Polygon stalls.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1295705" y="7723022"/>
            <a:ext cx="286847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Decoupled Web3 Registry</a:t>
            </a:r>
            <a:endParaRPr lang="en-US" sz="1600" dirty="0"/>
          </a:p>
        </p:txBody>
      </p:sp>
      <p:sp>
        <p:nvSpPr>
          <p:cNvPr id="37" name="Text 27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5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6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7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8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9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0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1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3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VIII · ROADMAP</a:t>
            </a:r>
            <a:endParaRPr lang="en-US" sz="1000" dirty="0"/>
          </a:p>
        </p:txBody>
      </p:sp>
      <p:sp>
        <p:nvSpPr>
          <p:cNvPr id="14" name="Text 4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&amp; BUDGET · 09</a:t>
            </a:r>
            <a:endParaRPr lang="en-US" sz="1000" dirty="0"/>
          </a:p>
        </p:txBody>
      </p:sp>
      <p:sp>
        <p:nvSpPr>
          <p:cNvPr id="15" name="Text 5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TIMELINES</a:t>
            </a:r>
            <a:endParaRPr lang="en-US" sz="900" dirty="0"/>
          </a:p>
        </p:txBody>
      </p:sp>
      <p:sp>
        <p:nvSpPr>
          <p:cNvPr id="16" name="Text 6"/>
          <p:cNvSpPr txBox="1"/>
          <p:nvPr/>
        </p:nvSpPr>
        <p:spPr>
          <a:xfrm>
            <a:off x="914400" y="1819656"/>
            <a:ext cx="16459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structured 26-month path to continental scale.</a:t>
            </a:r>
            <a:endParaRPr lang="en-US" sz="4200" dirty="0"/>
          </a:p>
        </p:txBody>
      </p:sp>
      <p:sp>
        <p:nvSpPr>
          <p:cNvPr id="17" name="Shape 7"/>
          <p:cNvSpPr/>
          <p:nvPr/>
        </p:nvSpPr>
        <p:spPr>
          <a:xfrm>
            <a:off x="914400" y="2857500"/>
            <a:ext cx="16459200" cy="4762195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6459200" cy="4249996"/>
        </p:xfrm>
        <a:graphic>
          <a:graphicData uri="http://schemas.openxmlformats.org/drawingml/2006/table">
            <a:tbl>
              <a:tblPr/>
              <a:tblGrid>
                <a:gridCol w="2962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PHASE &amp; TIMELINE</a:t>
                      </a:r>
                      <a:endParaRPr lang="en-US" sz="9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WHAT'S DELIVERED</a:t>
                      </a:r>
                      <a:endParaRPr lang="en-US" sz="9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BUDGET COST (ZAR)</a:t>
                      </a:r>
                      <a:endParaRPr lang="en-US" sz="9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0 · Foundation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 1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Legal structures, licensing arrangements, Stitch API agreement, card acquiring partnerships, core team onboarded.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R280,000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6F1D1B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1 · Payment MVP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Months 2–5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Android client &amp; Merchant apps, wallet core with auto-refill, card payments with same-day advance liquidity, pilot: 50 merchants.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6F1D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R2.2M — R2.75M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2 · Launch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Months 6–9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iOS apps release, agent cash on-ramps for unbanked, merchant auto-settlement engines. Target: 500+ merchants, 10,000+ wallets.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R3.4M — R4.0M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3 · Web3 &amp; Kenya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Months 10–13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Audited Polygon smart contracts, loyalty token mechanics, live franchise pilot store, Kenya launch with 50 merchants.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R4.5M — R5.7M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4 · Cross-Border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Months 14–18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Stablecoin cross-border settlement (SA↔Kenya), token exchange listings, yield staking systems.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R7.1M — R9.5M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Newsreader" pitchFamily="34" charset="0"/>
                          <a:ea typeface="Newsreader" pitchFamily="34" charset="-122"/>
                          <a:cs typeface="Newsreader" pitchFamily="34" charset="-120"/>
                        </a:rPr>
                        <a:t>Phase 5 · Scale Africa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Months 19–26</a:t>
                      </a:r>
                      <a:endParaRPr lang="en-US" sz="1200" dirty="0"/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Nigeria &amp; Ghana rollout, hardware PoS deployments (NFC, solar-powered, offline operations), developer SDKs.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R11.9M — R16.65M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8"/>
          <p:cNvSpPr txBox="1"/>
          <p:nvPr/>
        </p:nvSpPr>
        <p:spPr>
          <a:xfrm>
            <a:off x="914400" y="7905902"/>
            <a:ext cx="7620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FUNDING MILESTONES</a:t>
            </a:r>
            <a:endParaRPr lang="en-US" sz="800" dirty="0"/>
          </a:p>
        </p:txBody>
      </p:sp>
      <p:sp>
        <p:nvSpPr>
          <p:cNvPr id="20" name="Text 9"/>
          <p:cNvSpPr txBox="1"/>
          <p:nvPr/>
        </p:nvSpPr>
        <p:spPr>
          <a:xfrm>
            <a:off x="914400" y="8096098"/>
            <a:ext cx="7620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2620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To revenue-generating MVP (end Phase 1): </a:t>
            </a:r>
            <a:r>
              <a:rPr lang="en-US" sz="16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~R2.5M</a:t>
            </a:r>
            <a:r>
              <a:rPr lang="en-US" sz="1600" dirty="0">
                <a:solidFill>
                  <a:srgbClr val="2C2620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(~$139k USD)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C2620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To full commercial launch (end Phase 2): </a:t>
            </a:r>
            <a:r>
              <a:rPr lang="en-US" sz="1600" b="1" dirty="0">
                <a:solidFill>
                  <a:srgbClr val="2C26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~R6.4M</a:t>
            </a:r>
            <a:r>
              <a:rPr lang="en-US" sz="1600" dirty="0">
                <a:solidFill>
                  <a:srgbClr val="2C2620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(~$356k USD) </a:t>
            </a:r>
            <a:endParaRPr lang="en-US" sz="1600" dirty="0"/>
          </a:p>
        </p:txBody>
      </p:sp>
      <p:sp>
        <p:nvSpPr>
          <p:cNvPr id="21" name="Text 10"/>
          <p:cNvSpPr txBox="1"/>
          <p:nvPr/>
        </p:nvSpPr>
        <p:spPr>
          <a:xfrm>
            <a:off x="9534449" y="7905902"/>
            <a:ext cx="7839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 SUSTAINABILITY</a:t>
            </a:r>
            <a:endParaRPr lang="en-US" sz="800" dirty="0"/>
          </a:p>
        </p:txBody>
      </p:sp>
      <p:sp>
        <p:nvSpPr>
          <p:cNvPr id="22" name="Text 11"/>
          <p:cNvSpPr txBox="1"/>
          <p:nvPr/>
        </p:nvSpPr>
        <p:spPr>
          <a:xfrm>
            <a:off x="9534449" y="8096098"/>
            <a:ext cx="78391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Unit economics turn positive during Phase 2. The platform is projected to become fully self-funding from Phase 3 onward via merchant fee margins, advance spreads, and SaaS subscriptions.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334195" y="2952598"/>
            <a:ext cx="8039405" cy="4572000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6" name="Image 1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7" name="Image 2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8" name="Image 3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9" name="Image 4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0" name="Image 5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1" name="Image 6" descr="gen-dedup-8b1bfdb0f8d41b4bf341a0051af875cb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2" name="Image 7" descr="gen-dedup-921ad8a4e28f4448bb9e195da3793ea6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4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IX · FINANCIALS</a:t>
            </a:r>
            <a:endParaRPr lang="en-US" sz="1000" dirty="0"/>
          </a:p>
        </p:txBody>
      </p:sp>
      <p:sp>
        <p:nvSpPr>
          <p:cNvPr id="15" name="Text 5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PROJECTIONS · 10</a:t>
            </a:r>
            <a:endParaRPr lang="en-US" sz="1000" dirty="0"/>
          </a:p>
        </p:txBody>
      </p:sp>
      <p:sp>
        <p:nvSpPr>
          <p:cNvPr id="16" name="Text 6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REVENUES &amp; SCALE METRICS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914400" y="1819656"/>
            <a:ext cx="16459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Aggregated Year 1 to Year 3 scaling models.</a:t>
            </a:r>
            <a:endParaRPr lang="en-US" sz="4200" dirty="0"/>
          </a:p>
        </p:txBody>
      </p:sp>
      <p:sp>
        <p:nvSpPr>
          <p:cNvPr id="18" name="Shape 8"/>
          <p:cNvSpPr/>
          <p:nvPr/>
        </p:nvSpPr>
        <p:spPr>
          <a:xfrm>
            <a:off x="914400" y="2952598"/>
            <a:ext cx="8001000" cy="4572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598"/>
          <a:ext cx="8001000" cy="3762756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REVENUE STREAM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YEAR 1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YEAR 2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YEAR 3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Wallet transactions (R2-R3 flat)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R2.4M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R9.6M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R24.0M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Card processing margins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R1.8M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R7.2M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R18.0M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76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Same-day advance fees (1.0–2.0%)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9A763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R1.5M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9A763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R6.0M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A763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R15.0M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Cross-border settlements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R1.2M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R4.8M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Merchant SaaS software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R0.3M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R1.2M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R3.0M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Wallet float pool interest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R0.6M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R2.4M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R6.0M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Token rewards ecosystem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6B6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R0.6M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R1.8M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4110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AGGREGATE REVENUES</a:t>
                      </a:r>
                      <a:endParaRPr lang="en-US" sz="1275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75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R6.6M</a:t>
                      </a:r>
                      <a:endParaRPr lang="en-US" sz="12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75" b="1" dirty="0">
                          <a:solidFill>
                            <a:srgbClr val="2C262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R28.2M</a:t>
                      </a:r>
                      <a:endParaRPr lang="en-US" sz="12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R72.6M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9"/>
          <p:cNvSpPr txBox="1"/>
          <p:nvPr/>
        </p:nvSpPr>
        <p:spPr>
          <a:xfrm>
            <a:off x="9715500" y="3238805"/>
            <a:ext cx="72777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83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OPERATIONAL SCALE METRICS</a:t>
            </a:r>
            <a:endParaRPr lang="en-US" sz="800" dirty="0"/>
          </a:p>
        </p:txBody>
      </p:sp>
      <p:sp>
        <p:nvSpPr>
          <p:cNvPr id="21" name="Shape 10"/>
          <p:cNvSpPr/>
          <p:nvPr/>
        </p:nvSpPr>
        <p:spPr>
          <a:xfrm>
            <a:off x="9715500" y="4286707"/>
            <a:ext cx="3543300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1"/>
          <p:cNvSpPr txBox="1"/>
          <p:nvPr/>
        </p:nvSpPr>
        <p:spPr>
          <a:xfrm>
            <a:off x="9715500" y="3514954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 MERCHANTS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9715500" y="3705149"/>
            <a:ext cx="3543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2,000 → 20,000</a:t>
            </a:r>
            <a:endParaRPr lang="en-US" sz="2200" dirty="0"/>
          </a:p>
        </p:txBody>
      </p:sp>
      <p:sp>
        <p:nvSpPr>
          <p:cNvPr id="24" name="Text 13"/>
          <p:cNvSpPr txBox="1"/>
          <p:nvPr/>
        </p:nvSpPr>
        <p:spPr>
          <a:xfrm>
            <a:off x="9715500" y="4058107"/>
            <a:ext cx="3543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Y1 to Y3 expansion</a:t>
            </a:r>
            <a:endParaRPr lang="en-US" sz="800" dirty="0"/>
          </a:p>
        </p:txBody>
      </p:sp>
      <p:sp>
        <p:nvSpPr>
          <p:cNvPr id="25" name="Shape 14"/>
          <p:cNvSpPr/>
          <p:nvPr/>
        </p:nvSpPr>
        <p:spPr>
          <a:xfrm>
            <a:off x="13448995" y="4286707"/>
            <a:ext cx="3543300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15"/>
          <p:cNvSpPr txBox="1"/>
          <p:nvPr/>
        </p:nvSpPr>
        <p:spPr>
          <a:xfrm>
            <a:off x="13448995" y="3514954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WALLETS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13448995" y="3705149"/>
            <a:ext cx="3543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30,000 → 500,000</a:t>
            </a:r>
            <a:endParaRPr lang="en-US" sz="2200" dirty="0"/>
          </a:p>
        </p:txBody>
      </p:sp>
      <p:sp>
        <p:nvSpPr>
          <p:cNvPr id="28" name="Text 17"/>
          <p:cNvSpPr txBox="1"/>
          <p:nvPr/>
        </p:nvSpPr>
        <p:spPr>
          <a:xfrm>
            <a:off x="13448995" y="4058107"/>
            <a:ext cx="3543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Passive user onboarding</a:t>
            </a:r>
            <a:endParaRPr lang="en-US" sz="800" dirty="0"/>
          </a:p>
        </p:txBody>
      </p:sp>
      <p:sp>
        <p:nvSpPr>
          <p:cNvPr id="29" name="Shape 18"/>
          <p:cNvSpPr/>
          <p:nvPr/>
        </p:nvSpPr>
        <p:spPr>
          <a:xfrm>
            <a:off x="9715500" y="5257800"/>
            <a:ext cx="3543300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19"/>
          <p:cNvSpPr txBox="1"/>
          <p:nvPr/>
        </p:nvSpPr>
        <p:spPr>
          <a:xfrm>
            <a:off x="9715500" y="4486046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MONTHLY TRANSACTIONS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9715500" y="4677156"/>
            <a:ext cx="3543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500,000 → 5.0M</a:t>
            </a:r>
            <a:endParaRPr lang="en-US" sz="2200" dirty="0"/>
          </a:p>
        </p:txBody>
      </p:sp>
      <p:sp>
        <p:nvSpPr>
          <p:cNvPr id="32" name="Text 21"/>
          <p:cNvSpPr txBox="1"/>
          <p:nvPr/>
        </p:nvSpPr>
        <p:spPr>
          <a:xfrm>
            <a:off x="9715500" y="5029200"/>
            <a:ext cx="3543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Network clearing volumes</a:t>
            </a:r>
            <a:endParaRPr lang="en-US" sz="800" dirty="0"/>
          </a:p>
        </p:txBody>
      </p:sp>
      <p:sp>
        <p:nvSpPr>
          <p:cNvPr id="33" name="Shape 22"/>
          <p:cNvSpPr/>
          <p:nvPr/>
        </p:nvSpPr>
        <p:spPr>
          <a:xfrm>
            <a:off x="13448995" y="5257800"/>
            <a:ext cx="3543300" cy="9144"/>
          </a:xfrm>
          <a:prstGeom prst="rect">
            <a:avLst/>
          </a:prstGeom>
          <a:solidFill>
            <a:srgbClr val="CFC7B7"/>
          </a:solidFill>
          <a:ln w="12700">
            <a:solidFill>
              <a:srgbClr val="CF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3"/>
          <p:cNvSpPr txBox="1"/>
          <p:nvPr/>
        </p:nvSpPr>
        <p:spPr>
          <a:xfrm>
            <a:off x="13448995" y="4486046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MONTHLY PAYMENT TPV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13448995" y="4677156"/>
            <a:ext cx="3543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110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R50M → R500M</a:t>
            </a:r>
            <a:endParaRPr lang="en-US" sz="2200" dirty="0"/>
          </a:p>
        </p:txBody>
      </p:sp>
      <p:sp>
        <p:nvSpPr>
          <p:cNvPr id="36" name="Text 25"/>
          <p:cNvSpPr txBox="1"/>
          <p:nvPr/>
        </p:nvSpPr>
        <p:spPr>
          <a:xfrm>
            <a:off x="13448995" y="5029200"/>
            <a:ext cx="3543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Underlying transaction value</a:t>
            </a:r>
            <a:endParaRPr lang="en-US" sz="800" dirty="0"/>
          </a:p>
        </p:txBody>
      </p:sp>
      <p:sp>
        <p:nvSpPr>
          <p:cNvPr id="37" name="Text 26"/>
          <p:cNvSpPr txBox="1"/>
          <p:nvPr/>
        </p:nvSpPr>
        <p:spPr>
          <a:xfrm>
            <a:off x="9715500" y="5458054"/>
            <a:ext cx="7277710" cy="600761"/>
          </a:xfrm>
          <a:prstGeom prst="rect">
            <a:avLst/>
          </a:prstGeom>
          <a:solidFill>
            <a:srgbClr val="F1EDE4"/>
          </a:solidFill>
          <a:ln w="12700">
            <a:solidFill>
              <a:srgbClr val="CFC7B7"/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Ecosystem Corridors:</a:t>
            </a:r>
            <a:r>
              <a:rPr lang="en-US" sz="900" dirty="0">
                <a:solidFill>
                  <a:srgbClr val="2C2620"/>
                </a:solidFill>
                <a:latin typeface="var(--font-mono)" pitchFamily="34" charset="0"/>
                <a:ea typeface="var(--font-mono)" pitchFamily="34" charset="-122"/>
                <a:cs typeface="var(--font-mono)" pitchFamily="34" charset="-120"/>
              </a:rPr>
              <a:t> Year 1: South Africa core. Year 2: South Africa + Kenya corridor. Year 3: Multi-country corridors open (Nigeria, Ghana). 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914400" y="7810805"/>
            <a:ext cx="16459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6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streams are strictly diversified:</a:t>
            </a:r>
            <a:r>
              <a:rPr lang="en-US" sz="1200" dirty="0">
                <a:solidFill>
                  <a:srgbClr val="2C2620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no single product line exceeds 35% of total. The unique same-day advance fee product generates R15M/year by Year 3 at 80%+ gross margin. Wallet float interest scales passively, and cross-border stablecoin transfers become highly material in Year 2. 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525305" y="3429000"/>
            <a:ext cx="7848295" cy="4572000"/>
          </a:xfrm>
          <a:prstGeom prst="rect">
            <a:avLst/>
          </a:prstGeom>
          <a:solidFill>
            <a:srgbClr val="191612"/>
          </a:solidFill>
          <a:ln w="12700">
            <a:solidFill>
              <a:srgbClr val="2D28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304495"/>
            <a:ext cx="181051" cy="9144"/>
          </a:xfrm>
          <a:prstGeom prst="rect">
            <a:avLst/>
          </a:prstGeom>
        </p:spPr>
      </p:pic>
      <p:pic>
        <p:nvPicPr>
          <p:cNvPr id="6" name="Image 1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304495"/>
            <a:ext cx="9144" cy="181051"/>
          </a:xfrm>
          <a:prstGeom prst="rect">
            <a:avLst/>
          </a:prstGeom>
        </p:spPr>
      </p:pic>
      <p:pic>
        <p:nvPicPr>
          <p:cNvPr id="7" name="Image 2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304495"/>
            <a:ext cx="181051" cy="9144"/>
          </a:xfrm>
          <a:prstGeom prst="rect">
            <a:avLst/>
          </a:prstGeom>
        </p:spPr>
      </p:pic>
      <p:pic>
        <p:nvPicPr>
          <p:cNvPr id="8" name="Image 3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304495"/>
            <a:ext cx="9144" cy="181051"/>
          </a:xfrm>
          <a:prstGeom prst="rect">
            <a:avLst/>
          </a:prstGeom>
        </p:spPr>
      </p:pic>
      <p:pic>
        <p:nvPicPr>
          <p:cNvPr id="9" name="Image 4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304495" y="9972446"/>
            <a:ext cx="181051" cy="9144"/>
          </a:xfrm>
          <a:prstGeom prst="rect">
            <a:avLst/>
          </a:prstGeom>
        </p:spPr>
      </p:pic>
      <p:pic>
        <p:nvPicPr>
          <p:cNvPr id="10" name="Image 5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304495" y="9801454"/>
            <a:ext cx="9144" cy="181051"/>
          </a:xfrm>
          <a:prstGeom prst="rect">
            <a:avLst/>
          </a:prstGeom>
        </p:spPr>
      </p:pic>
      <p:pic>
        <p:nvPicPr>
          <p:cNvPr id="11" name="Image 6" descr="gen-dedup-30e516f707f8108b3dc8f6f9f00e7aff.png"/>
          <p:cNvPicPr>
            <a:picLocks noChangeAspect="1"/>
          </p:cNvPicPr>
          <p:nvPr/>
        </p:nvPicPr>
        <p:blipFill>
          <a:blip r:embed="rId3"/>
          <a:srcRect l="-2105" r="-2105"/>
          <a:stretch/>
        </p:blipFill>
        <p:spPr>
          <a:xfrm>
            <a:off x="17802454" y="9972446"/>
            <a:ext cx="181051" cy="9144"/>
          </a:xfrm>
          <a:prstGeom prst="rect">
            <a:avLst/>
          </a:prstGeom>
        </p:spPr>
      </p:pic>
      <p:pic>
        <p:nvPicPr>
          <p:cNvPr id="12" name="Image 7" descr="gen-dedup-b1872bb193ee79f66b94535521f7cd8b.png"/>
          <p:cNvPicPr>
            <a:picLocks noChangeAspect="1"/>
          </p:cNvPicPr>
          <p:nvPr/>
        </p:nvPicPr>
        <p:blipFill>
          <a:blip r:embed="rId4"/>
          <a:srcRect t="-2105" b="-2105"/>
          <a:stretch/>
        </p:blipFill>
        <p:spPr>
          <a:xfrm>
            <a:off x="17973446" y="9801454"/>
            <a:ext cx="9144" cy="181051"/>
          </a:xfrm>
          <a:prstGeom prst="rect">
            <a:avLst/>
          </a:prstGeom>
        </p:spPr>
      </p:pic>
      <p:pic>
        <p:nvPicPr>
          <p:cNvPr id="13" name="Image 8" descr="gen-dedup-4751d69d3abe216e8312228729db53cc.png"/>
          <p:cNvPicPr>
            <a:picLocks noChangeAspect="1"/>
          </p:cNvPicPr>
          <p:nvPr/>
        </p:nvPicPr>
        <p:blipFill>
          <a:blip r:embed="rId5">
            <a:alphaModFix amt="15000"/>
          </a:blip>
          <a:srcRect t="-2083" b="-2083"/>
          <a:stretch/>
        </p:blipFill>
        <p:spPr>
          <a:xfrm>
            <a:off x="9144000" y="3429000"/>
            <a:ext cx="9144" cy="4572000"/>
          </a:xfrm>
          <a:prstGeom prst="rect">
            <a:avLst/>
          </a:prstGeom>
        </p:spPr>
      </p:pic>
      <p:pic>
        <p:nvPicPr>
          <p:cNvPr id="14" name="Image 9" descr="gen-dedup-5ac03a448e801a65236894c5e603f80e.png"/>
          <p:cNvPicPr>
            <a:picLocks noChangeAspect="1"/>
          </p:cNvPicPr>
          <p:nvPr/>
        </p:nvPicPr>
        <p:blipFill>
          <a:blip r:embed="rId6">
            <a:alphaModFix amt="15000"/>
          </a:blip>
          <a:srcRect l="-2083" r="-2083"/>
          <a:stretch/>
        </p:blipFill>
        <p:spPr>
          <a:xfrm>
            <a:off x="914400" y="8191195"/>
            <a:ext cx="16459200" cy="9144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914400" y="819302"/>
            <a:ext cx="75895" cy="75895"/>
          </a:xfrm>
          <a:prstGeom prst="ellipse">
            <a:avLst/>
          </a:prstGeom>
          <a:solidFill>
            <a:srgbClr val="9A7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4"/>
          <p:cNvSpPr txBox="1"/>
          <p:nvPr/>
        </p:nvSpPr>
        <p:spPr>
          <a:xfrm>
            <a:off x="1218895" y="761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· THE OPPORTUNITY</a:t>
            </a:r>
            <a:endParaRPr lang="en-US" sz="1000" dirty="0"/>
          </a:p>
        </p:txBody>
      </p:sp>
      <p:sp>
        <p:nvSpPr>
          <p:cNvPr id="17" name="Text 5"/>
          <p:cNvSpPr txBox="1"/>
          <p:nvPr/>
        </p:nvSpPr>
        <p:spPr>
          <a:xfrm>
            <a:off x="13716000" y="7616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84" dirty="0">
                <a:solidFill>
                  <a:srgbClr val="E6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CAPITAL RAISING · 11</a:t>
            </a:r>
            <a:endParaRPr lang="en-US" sz="1000" dirty="0"/>
          </a:p>
        </p:txBody>
      </p:sp>
      <p:sp>
        <p:nvSpPr>
          <p:cNvPr id="18" name="Text 6"/>
          <p:cNvSpPr txBox="1"/>
          <p:nvPr/>
        </p:nvSpPr>
        <p:spPr>
          <a:xfrm>
            <a:off x="914400" y="1485900"/>
            <a:ext cx="1645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OPPORTUNITY &amp; CAPITAL STRUCTURE</a:t>
            </a:r>
            <a:endParaRPr lang="en-US" sz="900" dirty="0"/>
          </a:p>
        </p:txBody>
      </p:sp>
      <p:sp>
        <p:nvSpPr>
          <p:cNvPr id="19" name="Text 7"/>
          <p:cNvSpPr txBox="1"/>
          <p:nvPr/>
        </p:nvSpPr>
        <p:spPr>
          <a:xfrm>
            <a:off x="914400" y="1819656"/>
            <a:ext cx="187452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kern="0" spc="-93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 Join us in building Africa's </a:t>
            </a:r>
            <a:r>
              <a:rPr lang="en-US" sz="4600" i="1" kern="0" spc="-93" dirty="0">
                <a:solidFill>
                  <a:srgbClr val="9A763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next financial powerhouse</a:t>
            </a:r>
            <a:r>
              <a:rPr lang="en-US" sz="4600" kern="0" spc="-93" dirty="0">
                <a:solidFill>
                  <a:srgbClr val="F1EDE4"/>
                </a:solidFill>
                <a:latin typeface="var(--font-serif)" pitchFamily="34" charset="0"/>
                <a:ea typeface="var(--font-serif)" pitchFamily="34" charset="-122"/>
                <a:cs typeface="var(--font-serif)" pitchFamily="34" charset="-120"/>
              </a:rPr>
              <a:t>. </a:t>
            </a:r>
            <a:endParaRPr lang="en-US" sz="4600" dirty="0"/>
          </a:p>
        </p:txBody>
      </p:sp>
      <p:sp>
        <p:nvSpPr>
          <p:cNvPr id="20" name="Text 8"/>
          <p:cNvSpPr txBox="1"/>
          <p:nvPr/>
        </p:nvSpPr>
        <p:spPr>
          <a:xfrm>
            <a:off x="914400" y="3429000"/>
            <a:ext cx="7810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INVESTMENT REQUIRED</a:t>
            </a:r>
            <a:endParaRPr lang="en-US" sz="900" dirty="0"/>
          </a:p>
        </p:txBody>
      </p:sp>
      <p:sp>
        <p:nvSpPr>
          <p:cNvPr id="21" name="Text 9"/>
          <p:cNvSpPr txBox="1"/>
          <p:nvPr/>
        </p:nvSpPr>
        <p:spPr>
          <a:xfrm>
            <a:off x="914400" y="3696005"/>
            <a:ext cx="78108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0" kern="0" spc="-11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R10M — R12M</a:t>
            </a:r>
            <a:endParaRPr lang="en-US" sz="5500" dirty="0"/>
          </a:p>
        </p:txBody>
      </p:sp>
      <p:sp>
        <p:nvSpPr>
          <p:cNvPr id="22" name="Text 10"/>
          <p:cNvSpPr txBox="1"/>
          <p:nvPr/>
        </p:nvSpPr>
        <p:spPr>
          <a:xfrm>
            <a:off x="914400" y="4476902"/>
            <a:ext cx="7810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$555,000 — $667,000 USD · Seed Facility</a:t>
            </a:r>
            <a:endParaRPr lang="en-US" sz="1000" dirty="0"/>
          </a:p>
        </p:txBody>
      </p:sp>
      <p:sp>
        <p:nvSpPr>
          <p:cNvPr id="23" name="Text 11"/>
          <p:cNvSpPr txBox="1"/>
          <p:nvPr/>
        </p:nvSpPr>
        <p:spPr>
          <a:xfrm>
            <a:off x="914400" y="4934102"/>
            <a:ext cx="7810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DEC9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 Funding drives development through commercial launch (Phase 2), delivering </a:t>
            </a:r>
            <a:r>
              <a:rPr lang="en-US" sz="1500" b="1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500+ active merchants</a:t>
            </a:r>
            <a:r>
              <a:rPr lang="en-US" sz="1500" dirty="0">
                <a:solidFill>
                  <a:srgbClr val="E6DEC9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, </a:t>
            </a:r>
            <a:r>
              <a:rPr lang="en-US" sz="1500" b="1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10,000+ wallets</a:t>
            </a:r>
            <a:r>
              <a:rPr lang="en-US" sz="1500" dirty="0">
                <a:solidFill>
                  <a:srgbClr val="E6DEC9"/>
                </a:solidFill>
                <a:latin typeface="var(--font-sans)" pitchFamily="34" charset="0"/>
                <a:ea typeface="var(--font-sans)" pitchFamily="34" charset="-122"/>
                <a:cs typeface="var(--font-sans)" pitchFamily="34" charset="-120"/>
              </a:rPr>
              <a:t>, and monthly processing exceeding R500k. </a:t>
            </a:r>
            <a:endParaRPr lang="en-US" sz="1500" dirty="0"/>
          </a:p>
        </p:txBody>
      </p:sp>
      <p:sp>
        <p:nvSpPr>
          <p:cNvPr id="24" name="Shape 12"/>
          <p:cNvSpPr/>
          <p:nvPr/>
        </p:nvSpPr>
        <p:spPr>
          <a:xfrm>
            <a:off x="914400" y="5753405"/>
            <a:ext cx="9144" cy="400507"/>
          </a:xfrm>
          <a:prstGeom prst="rect">
            <a:avLst/>
          </a:prstGeom>
          <a:solidFill>
            <a:srgbClr val="F1EDE4"/>
          </a:solidFill>
          <a:ln w="12700">
            <a:solidFill>
              <a:srgbClr val="F1ED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3"/>
          <p:cNvSpPr txBox="1"/>
          <p:nvPr/>
        </p:nvSpPr>
        <p:spPr>
          <a:xfrm>
            <a:off x="1066190" y="5753405"/>
            <a:ext cx="765901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ALLOCATION: 6-person core engineering team · AWS Cloud &amp; APIs · Acquiring licenses · Advance liquidity seed · Spaza cash agent setups · marketing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9905695" y="3810305"/>
            <a:ext cx="7086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99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WE WIN &amp; WHY NOW</a:t>
            </a:r>
            <a:endParaRPr lang="en-US" sz="800" dirty="0"/>
          </a:p>
        </p:txBody>
      </p:sp>
      <p:sp>
        <p:nvSpPr>
          <p:cNvPr id="27" name="Text 15"/>
          <p:cNvSpPr txBox="1"/>
          <p:nvPr/>
        </p:nvSpPr>
        <p:spPr>
          <a:xfrm>
            <a:off x="9905695" y="4058107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1. Unmatched Merchant Proposition</a:t>
            </a:r>
            <a:endParaRPr lang="en-US" sz="1800" dirty="0"/>
          </a:p>
        </p:txBody>
      </p:sp>
      <p:sp>
        <p:nvSpPr>
          <p:cNvPr id="28" name="Text 16"/>
          <p:cNvSpPr txBox="1"/>
          <p:nvPr/>
        </p:nvSpPr>
        <p:spPr>
          <a:xfrm>
            <a:off x="9905695" y="4343400"/>
            <a:ext cx="7086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offer the lowest flat fees (R2–R3), same-day card advances (no competitor does this), and instant digital inclusion for unbanked workers.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9905695" y="5003597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2. Timing: The Rails Are Live Today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9905695" y="5288890"/>
            <a:ext cx="70866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DE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PayShap Request launched in Dec 2024. Capitec Pay capped direct API fees at R7. Brazil proved that bank-to-bank instant transfers replace cards (64B transactions). South Africa's rails are live. The team that builds the best application layer wins.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9905695" y="6184087"/>
            <a:ext cx="7086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9" dirty="0">
                <a:solidFill>
                  <a:srgbClr val="9A76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future of African payments is account-to-account. We are building it.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914400" y="8382305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ED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PayDuka Ltd</a:t>
            </a:r>
            <a:endParaRPr lang="en-US" sz="1600" dirty="0"/>
          </a:p>
        </p:txBody>
      </p:sp>
      <p:sp>
        <p:nvSpPr>
          <p:cNvPr id="33" name="Text 21"/>
          <p:cNvSpPr txBox="1"/>
          <p:nvPr/>
        </p:nvSpPr>
        <p:spPr>
          <a:xfrm>
            <a:off x="914400" y="8630107"/>
            <a:ext cx="6667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Email: info@payduka.xyz · Web: payduka.xyz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9334195" y="8382305"/>
            <a:ext cx="80394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document is for informational purposes only and does not constitute an offer to sell or a solicitation to purchase securities. All projections are forward-looking estimates. Consult qualified financial and legal advisors before making any investment decisions.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914400" y="9411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PayDuka · Investor Concept Deck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13716000" y="94110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2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 · 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2377</Words>
  <Application>Microsoft Office PowerPoint</Application>
  <PresentationFormat>Personnalisé</PresentationFormat>
  <Paragraphs>301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JetBrains Mono</vt:lpstr>
      <vt:lpstr>Newsreader</vt:lpstr>
      <vt:lpstr>Public Sans</vt:lpstr>
      <vt:lpstr>var(--font-mono)</vt:lpstr>
      <vt:lpstr>var(--font-sans)</vt:lpstr>
      <vt:lpstr>var(--font-serif)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Christopher fourquier</cp:lastModifiedBy>
  <cp:revision>1</cp:revision>
  <dcterms:created xsi:type="dcterms:W3CDTF">2026-06-05T09:55:45Z</dcterms:created>
  <dcterms:modified xsi:type="dcterms:W3CDTF">2026-06-05T10:08:56Z</dcterms:modified>
</cp:coreProperties>
</file>